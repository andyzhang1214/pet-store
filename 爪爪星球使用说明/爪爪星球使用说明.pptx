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11" Type="http://schemas.openxmlformats.org/officeDocument/2006/relationships/tableStyles" Target="tableStyles.xml" /><Relationship Id="rId10" Type="http://schemas.openxmlformats.org/officeDocument/2006/relationships/presProps" Target="presProps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overflow: 'hidden' }}&gt;&#10;  &lt;Image src=&quot;assets/cover_hero.png&quot; style={{ position: 'absolute', top: 0, left: 0, width: 1280, height: 720, objectFit: 'cover' }} /&gt;&#10;  &lt;Box style={{ position: 'absolute', top: 0, left: 0, width: 1280, height: 720, background: 'linear-gradient(90deg, rgba(43,36,31,0.72) 0%, rgba(43,36,31,0.42) 45%, rgba(43,36,31,0.05) 80%)' }} /&gt;&#10;  &lt;Box style={{ position: 'absolute', left: 70, top: 150, width: 620 }}&gt;&#10;    &lt;Text style={{ fontSize: 22, color: '#F5EBDD', letterSpacing: 6, marginBottom: 18 }}&gt;PET STORE ONE-STOP SYSTEM&lt;/Text&gt;&#10;    &lt;Text style={{ fontSize: 64, fontWeight: 'bold', color: '#FFFFFF', lineHeight: 1.25 }}&gt;爪爪星球&lt;/Text&gt;&#10;    &lt;Text style={{ fontSize: 40, fontWeight: 'bold', color: '#F5EBDD', marginTop: 10 }}&gt;小程序 + 门店后台 使用说明&lt;/Text&gt;&#10;    &lt;Box style={{ flexDirection: 'row', gap: 12, marginTop: 36 }}&gt;&#10;      &lt;Box style={{ background: '#B8551D', borderRadius: 20, padding: '8px 22px' }}&gt;&#10;        &lt;Text style={{ fontSize: 18, color: '#FFFFFF' }}&gt;预约 · 核销 · 结算 全流程&lt;/Text&gt;&#10;      &lt;/Box&gt;&#10;      &lt;Box style={{ background: 'rgba(245,235,221,0.92)', borderRadius: 20, padding: '8px 22px' }}&gt;&#10;        &lt;Text style={{ fontSize: 18, color: '#2B241F' }}&gt;余额 · 次卡 · 审计 一套账&lt;/Text&gt;&#10;      &lt;/Box&gt;&#10;    &lt;/Box&gt;&#10;    &lt;Text style={{ fontSize: 17, color: 'rgba(245,235,221,0.85)', marginTop: 40 }}&gt;适用对象：门店店长 / 店员　　版本 2026-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241F">
                  <a:alpha val="72000"/>
                </a:srgbClr>
              </a:gs>
              <a:gs pos="45000">
                <a:srgbClr val="2B241F">
                  <a:alpha val="42000"/>
                </a:srgbClr>
              </a:gs>
              <a:gs pos="80000">
                <a:srgbClr val="2B241F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142875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F5EBDD"/>
                </a:solidFill>
                <a:latin typeface="Microsoft YaHei"/>
                <a:ea typeface="Microsoft YaHei"/>
              </a:rPr>
              <a:t>PET STORE ONE-STOP SYSTEM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1857375"/>
            <a:ext cx="5905500" cy="9144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爪爪星球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867025"/>
            <a:ext cx="5905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5EBDD"/>
                </a:solidFill>
                <a:latin typeface="Microsoft YaHei"/>
                <a:ea typeface="Microsoft YaHei"/>
              </a:rPr>
              <a:t>小程序</a:t>
            </a:r>
            <a:r>
              <a:rPr lang="en-US" sz="3000" b="1">
                <a:solidFill>
                  <a:srgbClr val="F5EBDD"/>
                </a:solidFill>
                <a:latin typeface="Microsoft YaHei"/>
                <a:ea typeface="Microsoft YaHei"/>
              </a:rPr>
              <a:t> + </a:t>
            </a:r>
            <a:r>
              <a:rPr lang="zh-CN" sz="3000" b="1">
                <a:solidFill>
                  <a:srgbClr val="F5EBDD"/>
                </a:solidFill>
                <a:latin typeface="Microsoft YaHei"/>
                <a:ea typeface="Microsoft YaHei"/>
              </a:rPr>
              <a:t>门店后台</a:t>
            </a:r>
            <a:r>
              <a:rPr lang="en-US" sz="3000" b="1">
                <a:solidFill>
                  <a:srgbClr val="F5EBDD"/>
                </a:solidFill>
                <a:latin typeface="Microsoft YaHei"/>
                <a:ea typeface="Microsoft YaHei"/>
              </a:rPr>
              <a:t> </a:t>
            </a:r>
            <a:r>
              <a:rPr lang="zh-CN" sz="3000" b="1">
                <a:solidFill>
                  <a:srgbClr val="F5EBD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66750" y="3667125"/>
            <a:ext cx="2314575" cy="361950"/>
          </a:xfrm>
          <a:prstGeom prst="roundRect">
            <a:avLst>
              <a:gd name="adj" fmla="val 52632"/>
            </a:avLst>
          </a:prstGeom>
          <a:solidFill>
            <a:srgbClr val="B8551D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76300" y="3743325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预约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核销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结算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全流程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3095625" y="3667125"/>
            <a:ext cx="2314575" cy="361950"/>
          </a:xfrm>
          <a:prstGeom prst="roundRect">
            <a:avLst>
              <a:gd name="adj" fmla="val 52632"/>
            </a:avLst>
          </a:prstGeom>
          <a:solidFill>
            <a:srgbClr val="F5EBDD">
              <a:alpha val="92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305175" y="3743325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241F"/>
                </a:solidFill>
                <a:latin typeface="Microsoft YaHei"/>
                <a:ea typeface="Microsoft YaHei"/>
              </a:rPr>
              <a:t>余额</a:t>
            </a:r>
            <a:r>
              <a:rPr lang="en-US" sz="1350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2B241F"/>
                </a:solidFill>
                <a:latin typeface="Microsoft YaHei"/>
                <a:ea typeface="Microsoft YaHei"/>
              </a:rPr>
              <a:t>次卡</a:t>
            </a:r>
            <a:r>
              <a:rPr lang="en-US" sz="1350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2B241F"/>
                </a:solidFill>
                <a:latin typeface="Microsoft YaHei"/>
                <a:ea typeface="Microsoft YaHei"/>
              </a:rPr>
              <a:t>审计</a:t>
            </a:r>
            <a:r>
              <a:rPr lang="en-US" sz="1350">
                <a:solidFill>
                  <a:srgbClr val="2B24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2B241F"/>
                </a:solidFill>
                <a:latin typeface="Microsoft YaHei"/>
                <a:ea typeface="Microsoft YaHei"/>
              </a:rPr>
              <a:t>一套账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441007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5EBDD">
                    <a:alpha val="85000"/>
                  </a:srgbClr>
                </a:solidFill>
                <a:latin typeface="Microsoft YaHei"/>
                <a:ea typeface="Microsoft YaHei"/>
              </a:rPr>
              <a:t>适用对象：门店店长</a:t>
            </a:r>
            <a:r>
              <a:rPr lang="en-US" sz="1275">
                <a:solidFill>
                  <a:srgbClr val="F5EBDD">
                    <a:alpha val="8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F5EBDD">
                    <a:alpha val="85000"/>
                  </a:srgbClr>
                </a:solidFill>
                <a:latin typeface="Microsoft YaHei"/>
                <a:ea typeface="Microsoft YaHei"/>
              </a:rPr>
              <a:t>店员　　版本</a:t>
            </a:r>
            <a:r>
              <a:rPr lang="en-US" sz="1275">
                <a:solidFill>
                  <a:srgbClr val="F5EBDD">
                    <a:alpha val="85000"/>
                  </a:srgbClr>
                </a:solidFill>
                <a:latin typeface="Microsoft YaHei"/>
                <a:ea typeface="Microsoft YaHei"/>
              </a:rPr>
              <a:t> 2026-09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3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顾客端小程序：6 大功能&lt;/Text&gt;&#10;    &lt;Text style={{ fontSize: 16, color: '#8A7A6D', marginTop: 6 }}&gt;顾客自助完成「约、买、养、付」，到店只需出示一个码&lt;/Text&gt;&#10;  &lt;/Box&gt;&#10;  &lt;Box style={{ flex: 1, flexDirection: 'row', gap: 16, marginBottom: 16 }}&gt;&#10;    &lt;Box style={{ flex: 1, background: '#F5EBDD', borderRadius: 14, padding: 18 }}&gt;&#10;      &lt;Text style={{ fontSize: 26 }}&gt;📅 &lt;Text style={{ fontSize: 20, fontWeight: 'bold', color: '#B8551D' }}&gt;服务预约&lt;/Text&gt;&lt;/Text&gt;&#10;      &lt;Text style={{ fontSize: 15, color: '#2B241F', lineHeight: 1.65, marginTop: 10 }}&gt;按宠物类型与毛长自动匹配规格价目，选时段下单。预约生成 8 位核销码，到店出示给店员。&lt;/Text&gt;&#10;    &lt;/Box&gt;&#10;    &lt;Box style={{ flex: 1, background: '#F5EBDD', borderRadius: 14, padding: 18 }}&gt;&#10;      &lt;Text style={{ fontSize: 26 }}&gt;🛍️ &lt;Text style={{ fontSize: 20, fontWeight: 'bold', color: '#B8551D' }}&gt;商城下单&lt;/Text&gt;&lt;/Text&gt;&#10;      &lt;Text style={{ fontSize: 15, color: '#2B241F', lineHeight: 1.65, marginTop: 10 }}&gt;商品在线下单、线上支付，生成自提码，到店自提时由后台核销；核销后不再支持线上退款。&lt;/Text&gt;&#10;    &lt;/Box&gt;&#10;    &lt;Box style={{ flex: 1, background: '#F5EBDD', borderRadius: 14, padding: 18 }}&gt;&#10;      &lt;Text style={{ fontSize: 26 }}&gt;🐶 &lt;Text style={{ fontSize: 20, fontWeight: 'bold', color: '#B8551D' }}&gt;宠物档案&lt;/Text&gt;&lt;/Text&gt;&#10;      &lt;Text style={{ fontSize: 15, color: '#2B241F', lineHeight: 1.65, marginTop: 10 }}&gt;登记宠物类型、毛长、体重、生日与绝育情况，作为服务规格匹配与健康档案的依据。&lt;/Text&gt;&#10;    &lt;/Box&gt;&#10;  &lt;/Box&gt;&#10;  &lt;Box style={{ flex: 1, flexDirection: 'row', gap: 16 }}&gt;&#10;    &lt;Box style={{ flex: 1, background: '#F5EBDD', borderRadius: 14, padding: 18 }}&gt;&#10;      &lt;Text style={{ fontSize: 26 }}&gt;💰 &lt;Text style={{ fontSize: 20, fontWeight: 'bold', color: '#B8551D' }}&gt;钱包与次卡&lt;/Text&gt;&lt;/Text&gt;&#10;      &lt;Text style={{ fontSize: 15, color: '#2B241F', lineHeight: 1.65, marginTop: 10 }}&gt;储值余额与次卡同页管理：充值档位带赠送金，每笔动账都有流水与余额快照，随时可查。&lt;/Text&gt;&#10;    &lt;/Box&gt;&#10;    &lt;Box style={{ flex: 1, background: '#F5EBDD', borderRadius: 14, padding: 18 }}&gt;&#10;      &lt;Text style={{ fontSize: 26 }}&gt;💉 &lt;Text style={{ fontSize: 20, fontWeight: 'bold', color: '#B8551D' }}&gt;健康档案&lt;/Text&gt;&lt;/Text&gt;&#10;      &lt;Text style={{ fontSize: 15, color: '#2B241F', lineHeight: 1.65, marginTop: 10 }}&gt;疫苗、驱虫、美容记录自动累积；到期临近或逾期在门店后台看板置顶提醒，不漏针。&lt;/Text&gt;&#10;    &lt;/Box&gt;&#10;    &lt;Box style={{ flex: 1, background: '#F5EBDD', borderRadius: 14, padding: 18 }}&gt;&#10;      &lt;Text style={{ fontSize: 26 }}&gt;🔐 &lt;Text style={{ fontSize: 20, fontWeight: 'bold', color: '#B8551D' }}&gt;免注册登录&lt;/Text&gt;&lt;/Text&gt;&#10;      &lt;Text style={{ fontSize: 15, color: '#2B241F', lineHeight: 1.65, marginTop: 10 }}&gt;微信授权即可登录，首次进入自动建档，无需注册账号。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2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顾客端小程序：</a:t>
            </a:r>
            <a:r>
              <a:rPr lang="en-US" sz="2550" b="1">
                <a:solidFill>
                  <a:srgbClr val="2B241F"/>
                </a:solidFill>
                <a:latin typeface="Microsoft YaHei"/>
                <a:ea typeface="Microsoft YaHei"/>
              </a:rPr>
              <a:t>6 </a:t>
            </a: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大功能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顾客自助完成「约、买、养、付」，到店只需出示一个码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71500" y="99060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📅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服务预约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2950" y="156210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按宠物类型与毛长自动匹配规格价目，选时段下单。预约生成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位核销码，到店出示给店员。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305300" y="99060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4767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🛍️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商城下单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476750" y="156210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商品在线下单、线上支付，生成自提码，到店自提时由后台核销；核销后不再支持线上退款。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8039100" y="99060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2105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🐶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宠物档案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10550" y="156210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登记宠物类型、毛长、体重、生日与绝育情况，作为服务规格匹配与健康档案的依据。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371475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2950" y="3886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💰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钱包与次卡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2950" y="428625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储值余额与次卡同页管理：充值档位带赠送金，每笔动账都有流水与余额快照，随时可查。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305300" y="371475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476750" y="3886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💉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健康档案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476750" y="428625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疫苗、驱虫、美容记录自动累积；到期临近或逾期在门店后台看板置顶提醒，不漏针。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039100" y="3714750"/>
            <a:ext cx="3581400" cy="2571750"/>
          </a:xfrm>
          <a:prstGeom prst="roundRect">
            <a:avLst>
              <a:gd name="adj" fmla="val 518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210550" y="38862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chemeClr val="tx1"/>
                </a:solidFill>
                <a:latin typeface="Microsoft YaHei"/>
                <a:ea typeface="Microsoft YaHei"/>
              </a:rPr>
              <a:t>🔐 </a:t>
            </a:r>
            <a:r>
              <a:rPr lang="zh-CN" sz="1950">
                <a:solidFill>
                  <a:schemeClr val="tx1"/>
                </a:solidFill>
                <a:latin typeface="Microsoft YaHei"/>
                <a:ea typeface="Microsoft YaHei"/>
              </a:rPr>
              <a:t>免注册登录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210550" y="428625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微信授权即可登录，首次进入自动建档，无需注册账号。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7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小程序使用指引 ①：预约到店服务&lt;/Text&gt;&#10;    &lt;Text style={{ fontSize: 16, color: '#8A7A6D', marginTop: 6 }}&gt;从登录到拿到核销码，四步完成，全程无需打电话&lt;/Text&gt;&#10;  &lt;/Box&gt;&#10;  &lt;Box style={{ flexDirection: 'row', gap: 14, marginTop: 10 }}&gt;&#10;    &lt;Box style={{ flex: 1, background: '#F5EBDD', borderRadius: 14, padding: 18 }}&gt;&#10;      &lt;Text style={{ fontSize: 30 }}&gt;👤&lt;/Text&gt;&#10;      &lt;Text style={{ fontSize: 18, fontWeight: 'bold', color: '#B8551D', marginTop: 8 }}&gt;第 1 步 · 登录建档&lt;/Text&gt;&#10;      &lt;Text style={{ fontSize: 14.5, color: '#2B241F', lineHeight: 1.7, marginTop: 8 }}&gt;微信授权即可进入，无需注册。首次使用先在「我的」里添加宠物档案：类型、毛长、体重、生日。&lt;/Text&gt;&#10;    &lt;/Box&gt;&#10;    &lt;Box style={{ flex: 1, background: '#F5EBDD', borderRadius: 14, padding: 18 }}&gt;&#10;      &lt;Text style={{ fontSize: 30 }}&gt;📅&lt;/Text&gt;&#10;      &lt;Text style={{ fontSize: 18, fontWeight: 'bold', color: '#B8551D', marginTop: 8 }}&gt;第 2 步 · 选服务选时段&lt;/Text&gt;&#10;      &lt;Text style={{ fontSize: 14.5, color: '#2B241F', lineHeight: 1.7, marginTop: 8 }}&gt;首页挑服务，系统按宠物类型与毛长自动匹配对应价目；选一个有空位的日期时间即可下单。&lt;/Text&gt;&#10;    &lt;/Box&gt;&#10;    &lt;Box style={{ flex: 1, background: '#F5EBDD', borderRadius: 14, padding: 18 }}&gt;&#10;      &lt;Text style={{ fontSize: 30 }}&gt;🎫&lt;/Text&gt;&#10;      &lt;Text style={{ fontSize: 18, fontWeight: 'bold', color: '#B8551D', marginTop: 8 }}&gt;第 3 步 · 选担保方式&lt;/Text&gt;&#10;      &lt;Text style={{ fontSize: 14.5, color: '#2B241F', lineHeight: 1.7, marginTop: 8 }}&gt;可用余额担保（冻结部分余额）或次卡预扣 1 次；临时来不了，预扣的次数到时自动回补。&lt;/Text&gt;&#10;    &lt;/Box&gt;&#10;    &lt;Box style={{ flex: 1, background: '#B8551D', borderRadius: 14, padding: 18 }}&gt;&#10;      &lt;Text style={{ fontSize: 30 }}&gt;📱&lt;/Text&gt;&#10;      &lt;Text style={{ fontSize: 18, fontWeight: 'bold', color: '#FFFFFF', marginTop: 8 }}&gt;第 4 步 · 出示核销码&lt;/Text&gt;&#10;      &lt;Text style={{ fontSize: 14.5, color: '#FFFFFF', lineHeight: 1.7, marginTop: 8 }}&gt;预约详情里显示 8 位核销码和二维码，到店出示给店员扫码，状态立即变「已到店」。&lt;/Text&gt;&#10;    &lt;/Box&gt;&#10;  &lt;/Box&gt;&#10;  &lt;Box style={{ flex: 1, flexDirection: 'row', gap: 16, marginTop: 18 }}&gt;&#10;    &lt;Box style={{ flex: 1, background: '#FFF6EC', border: '1px solid #EADCC8', borderRadius: 12, padding: '14px 18px' }}&gt;&#10;      &lt;Text style={{ fontSize: 16, fontWeight: 'bold', color: '#B8551D' }}&gt;顾客常见问题&lt;/Text&gt;&#10;      &lt;Text style={{ fontSize: 14.5, color: '#2B241F', lineHeight: 1.8, marginTop: 6 }}&gt;{`· 码找不到了？——「预约记录」里随时可以重新调出&#10;· 想换时间？——在预约记录里查看状态后联系门店改期&#10;· 没充余额也能约？——可以，不选担保直接预约即可`}&lt;/Text&gt;&#10;    &lt;/Box&gt;&#10;    &lt;Box style={{ flex: 1, background: '#F5EBDD', borderRadius: 12, padding: '14px 18px' }}&gt;&#10;      &lt;Text style={{ fontSize: 16, fontWeight: 'bold', color: '#B8551D' }}&gt;店员配合动作&lt;/Text&gt;&#10;      &lt;Text style={{ fontSize: 14.5, color: '#2B241F', lineHeight: 1.8, marginTop: 6 }}&gt;{`· 顾客到店 → 打开后台「核销台」扫顾客的码&#10;· 核销成功后当场跟顾客确认服务项目与宠物&#10;· 顾客爽约不用手工处理，未到店次日自动回补`}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3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小程序使用指引</a:t>
            </a:r>
            <a:r>
              <a:rPr lang="en-US" sz="2550" b="1">
                <a:solidFill>
                  <a:srgbClr val="2B241F"/>
                </a:solidFill>
                <a:latin typeface="Microsoft YaHei"/>
                <a:ea typeface="Microsoft YaHei"/>
              </a:rPr>
              <a:t> ①</a:t>
            </a: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：预约到店服务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从登录到拿到核销码，四步完成，全程无需打电话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1500" y="1085850"/>
            <a:ext cx="2667000" cy="1895475"/>
          </a:xfrm>
          <a:prstGeom prst="roundRect">
            <a:avLst>
              <a:gd name="adj" fmla="val 703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2950" y="1257300"/>
            <a:ext cx="2324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Microsoft YaHei"/>
                <a:ea typeface="Microsoft YaHei"/>
              </a:rPr>
              <a:t>👤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42950" y="16764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1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步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登录建档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2950" y="1962150"/>
            <a:ext cx="23241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微信授权即可进入，无需注册。首次使用先在「我的」里添加宠物档案：类型、毛长、体重、生日。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371850" y="1085850"/>
            <a:ext cx="2657475" cy="1895475"/>
          </a:xfrm>
          <a:prstGeom prst="roundRect">
            <a:avLst>
              <a:gd name="adj" fmla="val 703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543300" y="1257300"/>
            <a:ext cx="2314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Microsoft YaHei"/>
                <a:ea typeface="Microsoft YaHei"/>
              </a:rPr>
              <a:t>📅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543300" y="1676400"/>
            <a:ext cx="2314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2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步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选服务选时段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543300" y="1962150"/>
            <a:ext cx="23145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首页挑服务，系统按宠物类型与毛长自动匹配对应价目；选一个有空位的日期时间即可下单。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162675" y="1085850"/>
            <a:ext cx="2667000" cy="1895475"/>
          </a:xfrm>
          <a:prstGeom prst="roundRect">
            <a:avLst>
              <a:gd name="adj" fmla="val 7035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334125" y="1257300"/>
            <a:ext cx="2324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Microsoft YaHei"/>
                <a:ea typeface="Microsoft YaHei"/>
              </a:rPr>
              <a:t>🎫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334125" y="16764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3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步</a:t>
            </a: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选担保方式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334125" y="1962150"/>
            <a:ext cx="23241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可用余额担保（冻结部分余额）或次卡预扣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1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次；临时来不了，预扣的次数到时自动回补。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963025" y="1085850"/>
            <a:ext cx="2657475" cy="1895475"/>
          </a:xfrm>
          <a:prstGeom prst="roundRect">
            <a:avLst>
              <a:gd name="adj" fmla="val 7035"/>
            </a:avLst>
          </a:prstGeom>
          <a:solidFill>
            <a:srgbClr val="B8551D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134475" y="1257300"/>
            <a:ext cx="2314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Microsoft YaHei"/>
                <a:ea typeface="Microsoft YaHei"/>
              </a:rPr>
              <a:t>📱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134475" y="1676400"/>
            <a:ext cx="2314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4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出示核销码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34475" y="1962150"/>
            <a:ext cx="23145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预约详情里显示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> 8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位核销码和二维码，到店出示给店员扫码，状态立即变「已到店」。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71500" y="3152775"/>
            <a:ext cx="5448300" cy="3133725"/>
          </a:xfrm>
          <a:prstGeom prst="roundRect">
            <a:avLst>
              <a:gd name="adj" fmla="val 3647"/>
            </a:avLst>
          </a:prstGeom>
          <a:solidFill>
            <a:srgbClr val="FFF6EC"/>
          </a:solidFill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" y="3286125"/>
            <a:ext cx="510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551D"/>
                </a:solidFill>
                <a:latin typeface="Microsoft YaHei"/>
                <a:ea typeface="Microsoft YaHei"/>
              </a:rPr>
              <a:t>顾客常见问题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2950" y="3533775"/>
            <a:ext cx="5105400" cy="895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码找不到了？——「预约记录」里随时可以重新调出
·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想换时间？——在预约记录里查看状态后联系门店改期
·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没充余额也能约？——可以，不选担保直接预约即可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172200" y="3152775"/>
            <a:ext cx="5448300" cy="3133725"/>
          </a:xfrm>
          <a:prstGeom prst="roundRect">
            <a:avLst>
              <a:gd name="adj" fmla="val 3647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343650" y="3286125"/>
            <a:ext cx="510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551D"/>
                </a:solidFill>
                <a:latin typeface="Microsoft YaHei"/>
                <a:ea typeface="Microsoft YaHei"/>
              </a:rPr>
              <a:t>店员配合动作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343650" y="3533775"/>
            <a:ext cx="5105400" cy="895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·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顾客到店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→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打开后台「核销台」扫顾客的码
·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核销成功后当场跟顾客确认服务项目与宠物
·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顾客爽约不用手工处理，未到店次日自动回补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5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小程序使用指引 ②：钱包、次卡与商城&lt;/Text&gt;&#10;    &lt;Text style={{ fontSize: 16, color: '#8A7A6D', marginTop: 6 }}&gt;钱和卡都在「我的」里自助管理，每一笔都查得到&lt;/Text&gt;&#10;  &lt;/Box&gt;&#10;  &lt;Box style={{ flex: 1, flexDirection: 'row', gap: 16, marginBottom: 16 }}&gt;&#10;    &lt;Box style={{ flex: 1, background: '#F5EBDD', borderRadius: 14, padding: 18 }}&gt;&#10;      &lt;Text style={{ fontSize: 26 }}&gt;💰&lt;/Text&gt;&#10;      &lt;Text style={{ fontSize: 18, fontWeight: 'bold', color: '#B8551D', marginTop: 6 }}&gt;充值余额&lt;/Text&gt;&#10;      &lt;Text style={{ fontSize: 14.5, color: '#2B241F', lineHeight: 1.7, marginTop: 8 }}&gt;「钱包」里选充值档位（如充 300 送 30），支付成功立即到账；充多少、送多少、花多少，流水页一目了然。&lt;/Text&gt;&#10;    &lt;/Box&gt;&#10;    &lt;Box style={{ flex: 1, background: '#F5EBDD', borderRadius: 14, padding: 18 }}&gt;&#10;      &lt;Text style={{ fontSize: 26 }}&gt;🎫&lt;/Text&gt;&#10;      &lt;Text style={{ fontSize: 18, fontWeight: 'bold', color: '#B8551D', marginTop: 6 }}&gt;购买与使用次卡&lt;/Text&gt;&#10;      &lt;Text style={{ fontSize: 14.5, color: '#2B241F', lineHeight: 1.7, marginTop: 8 }}&gt;次卡显示剩余次数：预约时预扣 1 次，到店核销正式扣，未到店自动回补。每一笔扣次都有记录可查。&lt;/Text&gt;&#10;    &lt;/Box&gt;&#10;    &lt;Box style={{ flex: 1, background: '#F5EBDD', borderRadius: 14, padding: 18 }}&gt;&#10;      &lt;Text style={{ fontSize: 26 }}&gt;🛍️&lt;/Text&gt;&#10;      &lt;Text style={{ fontSize: 18, fontWeight: 'bold', color: '#B8551D', marginTop: 6 }}&gt;商城与自提&lt;/Text&gt;&#10;      &lt;Text style={{ fontSize: 14.5, color: '#2B241F', lineHeight: 1.7, marginTop: 8 }}&gt;商品在线下单支付后生成 8 位自提码，到店出示给店员核销提货；核销后即完成交易。&lt;/Text&gt;&#10;    &lt;/Box&gt;&#10;  &lt;/Box&gt;&#10;  &lt;Box style={{ flex: 1, flexDirection: 'row', gap: 16 }}&gt;&#10;    &lt;Box style={{ flex: 1, background: '#F5EBDD', borderRadius: 14, padding: 18 }}&gt;&#10;      &lt;Text style={{ fontSize: 26 }}&gt;💉&lt;/Text&gt;&#10;      &lt;Text style={{ fontSize: 18, fontWeight: 'bold', color: '#B8551D', marginTop: 6 }}&gt;健康档案&lt;/Text&gt;&#10;      &lt;Text style={{ fontSize: 14.5, color: '#2B241F', lineHeight: 1.7, marginTop: 8 }}&gt;疫苗、驱虫、美容记录自动累积；临近到期时小程序和门店后台都会提醒，不漏针。&lt;/Text&gt;&#10;    &lt;/Box&gt;&#10;    &lt;Box style={{ flex: 1, background: '#F5EBDD', borderRadius: 14, padding: 18 }}&gt;&#10;      &lt;Text style={{ fontSize: 26 }}&gt;📋&lt;/Text&gt;&#10;      &lt;Text style={{ fontSize: 18, fontWeight: 'bold', color: '#B8551D', marginTop: 6 }}&gt;订单与记录&lt;/Text&gt;&#10;      &lt;Text style={{ fontSize: 14.5, color: '#2B241F', lineHeight: 1.7, marginTop: 8 }}&gt;预约记录、商城订单、消费流水集中查看；核销码丢了随时重新调出，不怕截图找不到。&lt;/Text&gt;&#10;    &lt;/Box&gt;&#10;    &lt;Box style={{ flex: 1, background: '#4E7A62', borderRadius: 14, padding: 18 }}&gt;&#10;      &lt;Text style={{ fontSize: 26 }}&gt;✅&lt;/Text&gt;&#10;      &lt;Text style={{ fontSize: 18, fontWeight: 'bold', color: '#FFFFFF', marginTop: 6 }}&gt;一句话记住&lt;/Text&gt;&#10;      &lt;Text style={{ fontSize: 14.5, color: '#FFFFFF', lineHeight: 1.7, marginTop: 8 }}&gt;顾客端只做三件事：约服务、管钱包、出示码 —— 剩下的核对、记账、留痕都由门店后台自动完成。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4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小程序使用指引</a:t>
            </a:r>
            <a:r>
              <a:rPr lang="en-US" sz="2550" b="1">
                <a:solidFill>
                  <a:srgbClr val="2B241F"/>
                </a:solidFill>
                <a:latin typeface="Microsoft YaHei"/>
                <a:ea typeface="Microsoft YaHei"/>
              </a:rPr>
              <a:t> ②</a:t>
            </a: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：钱包、次卡与商城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钱和卡都在「我的」里自助管理，每一笔都查得到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71500" y="1023938"/>
            <a:ext cx="3581400" cy="2714625"/>
          </a:xfrm>
          <a:prstGeom prst="roundRect">
            <a:avLst>
              <a:gd name="adj" fmla="val 4912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429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💰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2950" y="15240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充值余额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42950" y="1809750"/>
            <a:ext cx="32385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「钱包」里选充值档位（如充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300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送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30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），支付成功立即到账；充多少、送多少、花多少，流水页一目了然。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305300" y="990600"/>
            <a:ext cx="3581400" cy="2714625"/>
          </a:xfrm>
          <a:prstGeom prst="roundRect">
            <a:avLst>
              <a:gd name="adj" fmla="val 4912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4767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🎫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76750" y="15240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购买与使用次卡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476750" y="180975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次卡显示剩余次数：预约时预扣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1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次，到店核销正式扣，未到店自动回补。每一笔扣次都有记录可查。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039100" y="990600"/>
            <a:ext cx="3581400" cy="2714625"/>
          </a:xfrm>
          <a:prstGeom prst="roundRect">
            <a:avLst>
              <a:gd name="adj" fmla="val 4912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210550" y="11620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🛍️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210550" y="15240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商城与自提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10550" y="1809750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商品在线下单支付后生成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8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位自提码，到店出示给店员核销提货；核销后即完成交易。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3857625"/>
            <a:ext cx="3581400" cy="2428875"/>
          </a:xfrm>
          <a:prstGeom prst="roundRect">
            <a:avLst>
              <a:gd name="adj" fmla="val 549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💉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2950" y="43910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健康档案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" y="467677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疫苗、驱虫、美容记录自动累积；临近到期时小程序和门店后台都会提醒，不漏针。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305300" y="3857625"/>
            <a:ext cx="3581400" cy="2428875"/>
          </a:xfrm>
          <a:prstGeom prst="roundRect">
            <a:avLst>
              <a:gd name="adj" fmla="val 549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476750" y="402907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📋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476750" y="43910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订单与记录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476750" y="467677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预约记录、商城订单、消费流水集中查看；核销码丢了随时重新调出，不怕截图找不到。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039100" y="3857625"/>
            <a:ext cx="3581400" cy="2428875"/>
          </a:xfrm>
          <a:prstGeom prst="roundRect">
            <a:avLst>
              <a:gd name="adj" fmla="val 5490"/>
            </a:avLst>
          </a:prstGeom>
          <a:solidFill>
            <a:srgbClr val="4E7A62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10550" y="402907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✅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210550" y="43910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一句话记住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210550" y="467677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顾客端只做三件事：约服务、管钱包、出示码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剩下的核对、记账、留痕都由门店后台自动完成。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门店后台：14 个功能页，三组分工&lt;/Text&gt;&#10;    &lt;Text style={{ fontSize: 16, color: '#8A7A6D', marginTop: 6 }}&gt;店员做日常作业，店长管配置与钱，所有人都能查留痕&lt;/Text&gt;&#10;  &lt;/Box&gt;&#10;  &lt;Box style={{ flex: 1, flexDirection: 'row', gap: 20 }}&gt;&#10;    &lt;Box style={{ width: 470, justifyContent: 'space-between' }}&gt;&#10;      &lt;Box style={{ background: '#F5EBDD', borderRadius: 12, padding: '12px 16px' }}&gt;&#10;        &lt;Text style={{ fontSize: 17, fontWeight: 'bold', color: '#B8551D' }}&gt;🧑‍💼 日常作业（店员即可）&lt;/Text&gt;&#10;        &lt;Text style={{ fontSize: 15, color: '#2B241F', lineHeight: 1.7, marginTop: 6 }}&gt;核销台 · 预约管理 · 到店结算 · 订单管理 · 退款审核&lt;/Text&gt;&#10;      &lt;/Box&gt;&#10;      &lt;Box style={{ background: '#F5EBDD', borderRadius: 12, padding: '12px 16px' }}&gt;&#10;        &lt;Text style={{ fontSize: 17, fontWeight: 'bold', color: '#B8551D' }}&gt;🧾 配置管理（店长权限）&lt;/Text&gt;&#10;        &lt;Text style={{ fontSize: 15, color: '#2B241F', lineHeight: 1.7, marginTop: 6 }}&gt;商品与库存 · 服务与价目 · 卡与充值档位 · 会员等级 · 门店规则 · 后台账号&lt;/Text&gt;&#10;      &lt;/Box&gt;&#10;      &lt;Box style={{ background: '#F5EBDD', borderRadius: 12, padding: '12px 16px' }}&gt;&#10;        &lt;Text style={{ fontSize: 17, fontWeight: 'bold', color: '#B8551D' }}&gt;🔍 监督与留痕（全员可见）&lt;/Text&gt;&#10;        &lt;Text style={{ fontSize: 15, color: '#2B241F', lineHeight: 1.7, marginTop: 6 }}&gt;会员管理与健康看板 · 配置变更审计&lt;/Text&gt;&#10;      &lt;/Box&gt;&#10;    &lt;/Box&gt;&#10;    &lt;Box style={{ flex: 1, gap: 14 }}&gt;&#10;      &lt;Image src=&quot;assets/goods.png&quot; style={{ width: '100%', height: 236, objectFit: 'cover', borderRadius: 12, border: '1px solid #EADCC8' }} /&gt;&#10;      &lt;Text style={{ fontSize: 14, color: '#8A7A6D', marginTop: 4 }}&gt;商品与库存：SKU 库存、盘点报损、改价留痕、上下架&lt;/Text&gt;&#10;      &lt;Image src=&quot;assets/members.png&quot; style={{ width: '100%', height: 210, objectFit: 'cover', borderRadius: 12, border: '1px solid #EADCC8' }} /&gt;&#10;      &lt;Text style={{ fontSize: 14, color: '#8A7A6D', marginTop: 4 }}&gt;会员管理：健康看板按到期日排序，疫苗/驱虫逾期置顶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5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门店后台：</a:t>
            </a:r>
            <a:r>
              <a:rPr lang="en-US" sz="2550" b="1">
                <a:solidFill>
                  <a:srgbClr val="2B241F"/>
                </a:solidFill>
                <a:latin typeface="Microsoft YaHei"/>
                <a:ea typeface="Microsoft YaHei"/>
              </a:rPr>
              <a:t>14 </a:t>
            </a: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个功能页，三组分工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店员做日常作业，店长管配置与钱，所有人都能查留痕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71500" y="990600"/>
            <a:ext cx="4476750" cy="781050"/>
          </a:xfrm>
          <a:prstGeom prst="roundRect">
            <a:avLst>
              <a:gd name="adj" fmla="val 14634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23900" y="110490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B8551D"/>
                </a:solidFill>
                <a:latin typeface="Microsoft YaHei"/>
                <a:ea typeface="Microsoft YaHei"/>
              </a:rPr>
              <a:t>🧑‍💼 </a:t>
            </a:r>
            <a:r>
              <a:rPr lang="zh-CN" sz="1275" b="1">
                <a:solidFill>
                  <a:srgbClr val="B8551D"/>
                </a:solidFill>
                <a:latin typeface="Microsoft YaHei"/>
                <a:ea typeface="Microsoft YaHei"/>
              </a:rPr>
              <a:t>日常作业（店员即可）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23900" y="1362075"/>
            <a:ext cx="41719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核销台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预约管理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到店结算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订单管理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退款审核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3105150"/>
            <a:ext cx="4476750" cy="1076325"/>
          </a:xfrm>
          <a:prstGeom prst="roundRect">
            <a:avLst>
              <a:gd name="adj" fmla="val 10619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23900" y="32194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B8551D"/>
                </a:solidFill>
                <a:latin typeface="Microsoft YaHei"/>
                <a:ea typeface="Microsoft YaHei"/>
              </a:rPr>
              <a:t>🧾 </a:t>
            </a:r>
            <a:r>
              <a:rPr lang="zh-CN" sz="1275" b="1">
                <a:solidFill>
                  <a:srgbClr val="B8551D"/>
                </a:solidFill>
                <a:latin typeface="Microsoft YaHei"/>
                <a:ea typeface="Microsoft YaHei"/>
              </a:rPr>
              <a:t>配置管理（店长权限）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23900" y="3476625"/>
            <a:ext cx="41719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商品与库存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服务与价目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卡与充值档位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会员等级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门店规则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后台账号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5505450"/>
            <a:ext cx="4476750" cy="781050"/>
          </a:xfrm>
          <a:prstGeom prst="roundRect">
            <a:avLst>
              <a:gd name="adj" fmla="val 14634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3900" y="56197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B8551D"/>
                </a:solidFill>
                <a:latin typeface="Microsoft YaHei"/>
                <a:ea typeface="Microsoft YaHei"/>
              </a:rPr>
              <a:t>🔍 </a:t>
            </a:r>
            <a:r>
              <a:rPr lang="zh-CN" sz="1275" b="1">
                <a:solidFill>
                  <a:srgbClr val="B8551D"/>
                </a:solidFill>
                <a:latin typeface="Microsoft YaHei"/>
                <a:ea typeface="Microsoft YaHei"/>
              </a:rPr>
              <a:t>监督与留痕（全员可见）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23900" y="5876925"/>
            <a:ext cx="41719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会员管理与健康看板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配置变更审计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238750" y="990600"/>
            <a:ext cx="6381750" cy="224790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09" name=""/>
          <p:cNvPicPr>
            <a:picLocks noChangeAspect="1"/>
          </p:cNvPicPr>
          <p:nvPr/>
        </p:nvPicPr>
        <p:blipFill>
          <a:blip r:embed="rId1"/>
          <a:srcRect l="0" t="21820" r="0" b="21820"/>
          <a:stretch>
            <a:fillRect/>
          </a:stretch>
        </p:blipFill>
        <p:spPr>
          <a:xfrm rot="0" flipH="0" flipV="0">
            <a:off x="5238750" y="990600"/>
            <a:ext cx="6381750" cy="2247900"/>
          </a:xfrm>
          <a:prstGeom prst="roundRect">
            <a:avLst>
              <a:gd name="adj" fmla="val 5085"/>
            </a:avLst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238750" y="3409950"/>
            <a:ext cx="638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商品与库存：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SKU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库存、盘点报损、改价留痕、上下架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238750" y="3705225"/>
            <a:ext cx="6381750" cy="200025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 r:embed="rId2"/>
          <a:srcRect l="0" t="24925" r="0" b="24925"/>
          <a:stretch>
            <a:fillRect/>
          </a:stretch>
        </p:blipFill>
        <p:spPr>
          <a:xfrm rot="0" flipH="0" flipV="0">
            <a:off x="5238750" y="3705225"/>
            <a:ext cx="6381750" cy="2000250"/>
          </a:xfrm>
          <a:prstGeom prst="roundRect">
            <a:avLst>
              <a:gd name="adj" fmla="val 5714"/>
            </a:avLst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238750" y="5876925"/>
            <a:ext cx="638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会员管理：健康看板按到期日排序，疫苗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驱虫逾期置顶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核心流程：从预约到结算，一条线走通&lt;/Text&gt;&#10;    &lt;Text style={{ fontSize: 16, color: '#8A7A6D', marginTop: 6 }}&gt;以下截图全部来自真实运行系统（演示数据）&lt;/Text&gt;&#10;  &lt;/Box&gt;&#10;  &lt;Box style={{ flexDirection: 'row', gap: 8, alignItems: 'center', marginBottom: 16 }}&gt;&#10;    &lt;Box style={{ flex: 1, background: '#F5EBDD', borderRadius: 12, padding: '12px 10px', alignItems: 'center' }}&gt;&#10;      &lt;Text style={{ fontSize: 15, color: '#2B241F', textAlign: 'center' }}&gt;1. 小程序预约{'\n'}余额/次卡担保&lt;/Text&gt;&#10;    &lt;/Box&gt;&#10;    &lt;Text style={{ fontSize: 20, color: '#B8551D' }}&gt;→&lt;/Text&gt;&#10;    &lt;Box style={{ flex: 1, background: '#F5EBDD', borderRadius: 12, padding: '12px 10px', alignItems: 'center' }}&gt;&#10;      &lt;Text style={{ fontSize: 15, color: '#2B241F', textAlign: 'center' }}&gt;2. 出示核销码{'\n'}二维码或 8 位数字&lt;/Text&gt;&#10;    &lt;/Box&gt;&#10;    &lt;Text style={{ fontSize: 20, color: '#B8551D' }}&gt;→&lt;/Text&gt;&#10;    &lt;Box style={{ flex: 1, background: '#B8551D', borderRadius: 12, padding: '12px 10px', alignItems: 'center' }}&gt;&#10;      &lt;Text style={{ fontSize: 15, color: '#FFFFFF', textAlign: 'center', fontWeight: 'bold' }}&gt;3. 后台扫码核销{'\n'}状态变为已到店&lt;/Text&gt;&#10;    &lt;/Box&gt;&#10;    &lt;Text style={{ fontSize: 20, color: '#B8551D' }}&gt;→&lt;/Text&gt;&#10;    &lt;Box style={{ flex: 1, background: '#F5EBDD', borderRadius: 12, padding: '12px 10px', alignItems: 'center' }}&gt;&#10;      &lt;Text style={{ fontSize: 15, color: '#2B241F', textAlign: 'center' }}&gt;4. 到店结算{'\n'}余额抵扣/次卡核销&lt;/Text&gt;&#10;    &lt;/Box&gt;&#10;    &lt;Text style={{ fontSize: 20, color: '#B8551D' }}&gt;→&lt;/Text&gt;&#10;    &lt;Box style={{ flex: 1, background: '#4E7A62', borderRadius: 12, padding: '12px 10px', alignItems: 'center' }}&gt;&#10;      &lt;Text style={{ fontSize: 15, color: '#FFFFFF', textAlign: 'center', fontWeight: 'bold' }}&gt;5. 全程留痕{'\n'}谁做的、改了什么&lt;/Text&gt;&#10;    &lt;/Box&gt;&#10;  &lt;/Box&gt;&#10;  &lt;Box style={{ flex: 1, flexDirection: 'row', gap: 18 }}&gt;&#10;    &lt;Box style={{ flex: 1 }}&gt;&#10;      &lt;Image src=&quot;assets/verify_ok.png&quot; style={{ width: '100%', height: 258, objectFit: 'cover', borderRadius: 12, border: '1px solid #EADCC8' }} /&gt;&#10;      &lt;Text style={{ fontSize: 15, color: '#2B241F', marginTop: 8 }}&gt;核销成功：预约号、服务、宠物当场确认，状态即变「已到店」&lt;/Text&gt;&#10;    &lt;/Box&gt;&#10;    &lt;Box style={{ flex: 1.25 }}&gt;&#10;      &lt;Image src=&quot;assets/settle_done.png&quot; style={{ width: '100%', height: 258, objectFit: 'cover', borderRadius: 12, border: '1px solid #EADCC8' }} /&gt;&#10;      &lt;Text style={{ fontSize: 15, color: '#2B241F', marginTop: 8 }}&gt;到店结算：服务端按门店与规格重算金额，选「余额抵扣」即扣减，改价必填原因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6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核心流程：从预约到结算，一条线走通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以下截图全部来自真实运行系统（演示数据）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990600"/>
            <a:ext cx="1933575" cy="571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85850" y="1104900"/>
            <a:ext cx="90487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1.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小程序预约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余额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次卡担保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581275" y="1162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2847975" y="990600"/>
            <a:ext cx="1933575" cy="571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238500" y="1104900"/>
            <a:ext cx="116205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2.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出示核销码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二维码或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位数字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857750" y="1162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124450" y="990600"/>
            <a:ext cx="1943100" cy="571500"/>
          </a:xfrm>
          <a:prstGeom prst="roundRect">
            <a:avLst>
              <a:gd name="adj" fmla="val 20000"/>
            </a:avLst>
          </a:prstGeom>
          <a:solidFill>
            <a:srgbClr val="B8551D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591175" y="1104900"/>
            <a:ext cx="101917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3.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后台扫码核销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状态变为已到店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143750" y="1162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410450" y="990600"/>
            <a:ext cx="1933575" cy="571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781925" y="1104900"/>
            <a:ext cx="11906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4.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到店结算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余额抵扣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次卡核销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420225" y="1162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9686925" y="990600"/>
            <a:ext cx="1933575" cy="571500"/>
          </a:xfrm>
          <a:prstGeom prst="roundRect">
            <a:avLst>
              <a:gd name="adj" fmla="val 20000"/>
            </a:avLst>
          </a:prstGeom>
          <a:solidFill>
            <a:srgbClr val="4E7A62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086975" y="1104900"/>
            <a:ext cx="11430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5.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全程留痕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谁做的、改了什么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1714500"/>
            <a:ext cx="4838700" cy="245745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35" name=""/>
          <p:cNvPicPr>
            <a:picLocks noChangeAspect="1"/>
          </p:cNvPicPr>
          <p:nvPr/>
        </p:nvPicPr>
        <p:blipFill>
          <a:blip r:embed="rId1"/>
          <a:srcRect l="1313" t="0" r="1313" b="0"/>
          <a:stretch>
            <a:fillRect/>
          </a:stretch>
        </p:blipFill>
        <p:spPr>
          <a:xfrm rot="0" flipH="0" flipV="0">
            <a:off x="571500" y="1714500"/>
            <a:ext cx="4838700" cy="2457450"/>
          </a:xfrm>
          <a:prstGeom prst="roundRect">
            <a:avLst>
              <a:gd name="adj" fmla="val 4651"/>
            </a:avLst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424815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核销成功：预约号、服务、宠物当场确认，状态即变「已到店」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581650" y="1714500"/>
            <a:ext cx="6038850" cy="245745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 r:embed="rId2"/>
          <a:srcRect l="0" t="8855" r="0" b="8855"/>
          <a:stretch>
            <a:fillRect/>
          </a:stretch>
        </p:blipFill>
        <p:spPr>
          <a:xfrm rot="0" flipH="0" flipV="0">
            <a:off x="5581650" y="1714500"/>
            <a:ext cx="6038850" cy="2457450"/>
          </a:xfrm>
          <a:prstGeom prst="roundRect">
            <a:avLst>
              <a:gd name="adj" fmla="val 4651"/>
            </a:avLst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581650" y="42481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到店结算：服务端按门店与规格重算金额，选「余额抵扣」即扣减，改价必填原因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后台核销台：三种核销方式&lt;/Text&gt;&#10;    &lt;Text style={{ fontSize: 16, color: '#8A7A6D', marginTop: 6 }}&gt;顾客出示码，店员在「核销台」一页完成签到与提货&lt;/Text&gt;&#10;  &lt;/Box&gt;&#10;  &lt;Box style={{ flex: 1, flexDirection: 'row', gap: 20 }}&gt;&#10;    &lt;Box style={{ width: 560 }}&gt;&#10;      &lt;Image src=&quot;assets/verify_desk.png&quot; style={{ width: 560, height: 288, objectFit: 'cover', borderRadius: 12, border: '1px solid #EADCC8' }} /&gt;&#10;      &lt;Text style={{ fontSize: 15, color: '#2B241F', marginTop: 6 }}&gt;核销台分「预约签到」与「商品自提」两个入口，操作方式相同&lt;/Text&gt;&#10;      &lt;Image src=&quot;assets/qr_sheet.png&quot; style={{ width: 560, height: 178, objectFit: 'cover', borderRadius: 12, border: '1px solid #EADCC8', marginTop: 10 }} /&gt;&#10;      &lt;Text style={{ fontSize: 15, color: '#2B241F', marginTop: 6 }}&gt;预约/订单详情点「出码」即可把二维码打给顾客出示；旁边同步显示 8 位大字码&lt;/Text&gt;&#10;    &lt;/Box&gt;&#10;    &lt;Box style={{ flex: 1, gap: 12 }}&gt;&#10;      &lt;Box style={{ background: '#B8551D', borderRadius: 12, padding: '14px 18px' }}&gt;&#10;        &lt;Text style={{ fontSize: 18, fontWeight: 'bold', color: '#FFFFFF' }}&gt;① 摄像头扫码（推荐）&lt;/Text&gt;&#10;        &lt;Text style={{ fontSize: 14.5, color: '#FFFFFF', lineHeight: 1.6, marginTop: 6 }}&gt;点「📷 扫码」对准顾客手机上的二维码，识别后自动填码并核销，不需要手动输入。&lt;/Text&gt;&#10;      &lt;/Box&gt;&#10;      &lt;Box style={{ background: '#F5EBDD', borderRadius: 12, padding: '14px 18px' }}&gt;&#10;        &lt;Text style={{ fontSize: 18, fontWeight: 'bold', color: '#B8551D' }}&gt;② USB 扫码枪&lt;/Text&gt;&#10;        &lt;Text style={{ fontSize: 14.5, color: '#2B241F', lineHeight: 1.6, marginTop: 6 }}&gt;门店有扫码枪的优先用它：点一下输码框，直接扫顾客的码，即扫即核销。&lt;/Text&gt;&#10;      &lt;/Box&gt;&#10;      &lt;Box style={{ background: '#F5EBDD', borderRadius: 12, padding: '14px 18px' }}&gt;&#10;        &lt;Text style={{ fontSize: 18, fontWeight: 'bold', color: '#B8551D' }}&gt;③ 手动输码（兜底）&lt;/Text&gt;&#10;        &lt;Text style={{ fontSize: 14.5, color: '#2B241F', lineHeight: 1.6, marginTop: 6 }}&gt;顾客口报 8 位数字，直接输入后点确认。设备不给力时永远有这条路。&lt;/Text&gt;&#10;      &lt;/Box&gt;&#10;      &lt;Box style={{ background: '#FFF6EC', border: '1px solid #EADCC8', borderRadius: 12, padding: '12px 18px' }}&gt;&#10;        &lt;Text style={{ fontSize: 14, color: '#8A7A6D', lineHeight: 1.6 }}&gt;⚠️ 摄像头扫码需要在带 https 的后台地址下使用；扫码枪与手输不受影响。核销成功当场显示预约号、服务与宠物，跟顾客口头确认即可。&lt;/Text&gt;&#10;      &lt;/Box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7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后台核销台：三种核销方式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顾客出示码，店员在「核销台」一页完成签到与提货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71500" y="990600"/>
            <a:ext cx="5334000" cy="274320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 r:embed="rId1"/>
          <a:srcRect l="1920" t="0" r="1920" b="0"/>
          <a:stretch>
            <a:fillRect/>
          </a:stretch>
        </p:blipFill>
        <p:spPr>
          <a:xfrm rot="0" flipH="0" flipV="0">
            <a:off x="571500" y="990600"/>
            <a:ext cx="5334000" cy="2743200"/>
          </a:xfrm>
          <a:prstGeom prst="roundRect">
            <a:avLst>
              <a:gd name="adj" fmla="val 4167"/>
            </a:avLst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37909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核销台分「预约签到」与「商品自提」两个入口，操作方式相同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71500" y="4057650"/>
            <a:ext cx="5334000" cy="1695450"/>
          </a:xfrm>
          <a:prstGeom prst="rect">
            <a:avLst/>
          </a:prstGeom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 r:embed="rId2"/>
          <a:srcRect l="0" t="17862" r="0" b="17862"/>
          <a:stretch>
            <a:fillRect/>
          </a:stretch>
        </p:blipFill>
        <p:spPr>
          <a:xfrm rot="0" flipH="0" flipV="0">
            <a:off x="571500" y="4057650"/>
            <a:ext cx="5334000" cy="1695450"/>
          </a:xfrm>
          <a:prstGeom prst="roundRect">
            <a:avLst>
              <a:gd name="adj" fmla="val 6742"/>
            </a:avLst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58102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预约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订单详情点「出码」即可把二维码打给顾客出示；旁边同步显示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位大字码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0" y="990600"/>
            <a:ext cx="5524500" cy="800100"/>
          </a:xfrm>
          <a:prstGeom prst="roundRect">
            <a:avLst>
              <a:gd name="adj" fmla="val 14286"/>
            </a:avLst>
          </a:prstGeom>
          <a:solidFill>
            <a:srgbClr val="B8551D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267450" y="1123950"/>
            <a:ext cx="518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摄像头扫码（推荐）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267450" y="1390650"/>
            <a:ext cx="51816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点「📷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扫码」对准顾客手机上的二维码，识别后自动填码并核销，不需要手动输入。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0" y="1905000"/>
            <a:ext cx="5524500" cy="800100"/>
          </a:xfrm>
          <a:prstGeom prst="roundRect">
            <a:avLst>
              <a:gd name="adj" fmla="val 14286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267450" y="2038350"/>
            <a:ext cx="518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② USB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扫码枪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267450" y="2305050"/>
            <a:ext cx="51816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门店有扫码枪的优先用它：点一下输码框，直接扫顾客的码，即扫即核销。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0" y="2819400"/>
            <a:ext cx="5524500" cy="800100"/>
          </a:xfrm>
          <a:prstGeom prst="roundRect">
            <a:avLst>
              <a:gd name="adj" fmla="val 14286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267450" y="2952750"/>
            <a:ext cx="518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8551D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手动输码（兜底）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267450" y="3219450"/>
            <a:ext cx="51816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顾客口报</a:t>
            </a:r>
            <a:r>
              <a:rPr lang="en-US" sz="1088">
                <a:solidFill>
                  <a:srgbClr val="2B241F"/>
                </a:solidFill>
                <a:latin typeface="Microsoft YaHei"/>
                <a:ea typeface="Microsoft YaHei"/>
              </a:rPr>
              <a:t> 8 </a:t>
            </a:r>
            <a:r>
              <a:rPr lang="zh-CN" sz="1088">
                <a:solidFill>
                  <a:srgbClr val="2B241F"/>
                </a:solidFill>
                <a:latin typeface="Microsoft YaHei"/>
                <a:ea typeface="Microsoft YaHei"/>
              </a:rPr>
              <a:t>位数字，直接输入后点确认。设备不给力时永远有这条路。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0" y="3733800"/>
            <a:ext cx="5524500" cy="742950"/>
          </a:xfrm>
          <a:prstGeom prst="roundRect">
            <a:avLst>
              <a:gd name="adj" fmla="val 15385"/>
            </a:avLst>
          </a:prstGeom>
          <a:solidFill>
            <a:srgbClr val="FFF6EC"/>
          </a:solidFill>
          <a:ln w="12700">
            <a:solidFill>
              <a:srgbClr val="EADCC8"/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267450" y="3848100"/>
            <a:ext cx="5181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⚠️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摄像头扫码需要在带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https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的后台地址下使用；扫码枪与手输不受影响。核销成功当场显示预约号、服务与宠物，跟顾客口头确认即可。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65" name="" descr="&lt;Slide style={{ width: 1280, height: 720, background: '#FFFFFF', padding: '20px 60px', display: 'flex', flexDirection: 'column' }}&gt;&#10;  &lt;Box style={{ height: 84, justifyContent: 'center' }}&gt;&#10;    &lt;Text style={{ fontSize: 34, fontWeight: 'bold', color: '#2B241F' }}&gt;余额与次卡：怎么充、怎么扣、怎么查&lt;/Text&gt;&#10;    &lt;Text style={{ fontSize: 16, color: '#8A7A6D', marginTop: 6 }}&gt;顾客在小程序操作，门店结算自动联动 —— 下方为演示实测数字&lt;/Text&gt;&#10;  &lt;/Box&gt;&#10;  &lt;Box style={{ flexDirection: 'row', gap: 18, alignItems: 'center', marginBottom: 18 }}&gt;&#10;    &lt;Box style={{ flex: 1, background: '#F5EBDD', borderRadius: 14, padding: 20, alignItems: 'center' }}&gt;&#10;      &lt;Text style={{ fontSize: 15, color: '#8A7A6D' }}&gt;充值到账（300 本金 + 30 赠送）&lt;/Text&gt;&#10;      &lt;Text style={{ fontSize: 52, fontWeight: 'bold', color: '#2B241F' }}&gt;¥330&lt;/Text&gt;&#10;    &lt;/Box&gt;&#10;    &lt;Text style={{ fontSize: 30, color: '#B8551D' }}&gt;→&lt;/Text&gt;&#10;    &lt;Box style={{ flex: 1, background: '#FFF6EC', border: '1px dashed #B8551D', borderRadius: 14, padding: 20, alignItems: 'center' }}&gt;&#10;      &lt;Text style={{ fontSize: 15, color: '#B8551D' }}&gt;预约时担保冻结（这部分暂时不能用）&lt;/Text&gt;&#10;      &lt;Text style={{ fontSize: 52, fontWeight: 'bold', color: '#B8551D' }}&gt;冻 ¥130&lt;/Text&gt;&#10;    &lt;/Box&gt;&#10;    &lt;Text style={{ fontSize: 30, color: '#B8551D' }}&gt;→&lt;/Text&gt;&#10;    &lt;Box style={{ flex: 1, background: '#4E7A62', borderRadius: 14, padding: 20, alignItems: 'center' }}&gt;&#10;      &lt;Text style={{ fontSize: 15, color: '#FFFFFF' }}&gt;到店结算后扣掉（冻结解除）&lt;/Text&gt;&#10;      &lt;Text style={{ fontSize: 52, fontWeight: 'bold', color: '#FFFFFF' }}&gt;余 ¥200&lt;/Text&gt;&#10;    &lt;/Box&gt;&#10;  &lt;/Box&gt;&#10;  &lt;Box style={{ flex: 1, flexDirection: 'row', gap: 18 }}&gt;&#10;    &lt;Box style={{ flex: 1, background: '#F5EBDD', borderRadius: 12, padding: 18 }}&gt;&#10;      &lt;Text style={{ fontSize: 18, fontWeight: 'bold', color: '#B8551D' }}&gt;充值与赠送&lt;/Text&gt;&#10;      &lt;Text style={{ fontSize: 15, color: '#2B241F', lineHeight: 1.7, marginTop: 8 }}&gt;顾客选档位充值，赠送金随本金同时到账、当场可用；未消费的本金支持退款，赠送部分不退，规则透明。&lt;/Text&gt;&#10;    &lt;/Box&gt;&#10;    &lt;Box style={{ flex: 1, background: '#F5EBDD', borderRadius: 12, padding: 18 }}&gt;&#10;      &lt;Text style={{ fontSize: 18, fontWeight: 'bold', color: '#B8551D' }}&gt;次卡怎么扣&lt;/Text&gt;&#10;      &lt;Text style={{ fontSize: 15, color: '#2B241F', lineHeight: 1.7, marginTop: 8 }}&gt;预约预扣 1 次 → 到店核销正式扣 → 未到店自动回补。店长可人工加减次数，必须填写原因，顾客端同步可见。&lt;/Text&gt;&#10;    &lt;/Box&gt;&#10;    &lt;Box style={{ flex: 1, background: '#F5EBDD', borderRadius: 12, padding: 18 }}&gt;&#10;      &lt;Text style={{ fontSize: 18, fontWeight: 'bold', color: '#B8551D' }}&gt;每一笔都能查&lt;/Text&gt;&#10;      &lt;Text style={{ fontSize: 15, color: '#2B241F', lineHeight: 1.7, marginTop: 8 }}&gt;钱包流水记录每笔进出和变动后的余额，次卡流水记录每次扣补；顾客和门店看到的是同一本账。&lt;/Text&gt;&#10;    &lt;/Box&gt;&#10;  &lt;/Box&gt;&#10;  &lt;Box style={{ height: 40, flexDirection: 'row', alignItems: 'center', justifyContent: 'space-between' }}&gt;&#10;    &lt;Text style={{ fontSize: 14, color: '#8A7A6D' }}&gt;爪爪星球 · 使用说明&lt;/Text&gt;&#10;    &lt;Text style={{ fontSize: 14, color: '#8A7A6D' }}&gt;08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B241F"/>
                </a:solidFill>
                <a:latin typeface="Microsoft YaHei"/>
                <a:ea typeface="Microsoft YaHei"/>
              </a:rPr>
              <a:t>余额与次卡：怎么充、怎么扣、怎么查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7239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顾客在小程序操作，门店结算自动联动</a:t>
            </a:r>
            <a:r>
              <a:rPr lang="en-US" sz="1200">
                <a:solidFill>
                  <a:srgbClr val="8A7A6D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A7A6D"/>
                </a:solidFill>
                <a:latin typeface="Microsoft YaHei"/>
                <a:ea typeface="Microsoft YaHei"/>
              </a:rPr>
              <a:t>下方为演示实测数字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990600"/>
            <a:ext cx="3267075" cy="1152525"/>
          </a:xfrm>
          <a:prstGeom prst="roundRect">
            <a:avLst>
              <a:gd name="adj" fmla="val 1157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71575" y="118110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A6D"/>
                </a:solidFill>
                <a:latin typeface="Microsoft YaHei"/>
                <a:ea typeface="Microsoft YaHei"/>
              </a:rPr>
              <a:t>充值到账（</a:t>
            </a:r>
            <a:r>
              <a:rPr lang="en-US" sz="1125">
                <a:solidFill>
                  <a:srgbClr val="8A7A6D"/>
                </a:solidFill>
                <a:latin typeface="Microsoft YaHei"/>
                <a:ea typeface="Microsoft YaHei"/>
              </a:rPr>
              <a:t>300 </a:t>
            </a:r>
            <a:r>
              <a:rPr lang="zh-CN" sz="1125">
                <a:solidFill>
                  <a:srgbClr val="8A7A6D"/>
                </a:solidFill>
                <a:latin typeface="Microsoft YaHei"/>
                <a:ea typeface="Microsoft YaHei"/>
              </a:rPr>
              <a:t>本金</a:t>
            </a:r>
            <a:r>
              <a:rPr lang="en-US" sz="1125">
                <a:solidFill>
                  <a:srgbClr val="8A7A6D"/>
                </a:solidFill>
                <a:latin typeface="Microsoft YaHei"/>
                <a:ea typeface="Microsoft YaHei"/>
              </a:rPr>
              <a:t> + 30 </a:t>
            </a:r>
            <a:r>
              <a:rPr lang="zh-CN" sz="1125">
                <a:solidFill>
                  <a:srgbClr val="8A7A6D"/>
                </a:solidFill>
                <a:latin typeface="Microsoft YaHei"/>
                <a:ea typeface="Microsoft YaHei"/>
              </a:rPr>
              <a:t>赠送）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657350" y="1352550"/>
            <a:ext cx="11049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2B241F"/>
                </a:solidFill>
                <a:latin typeface="Microsoft YaHei"/>
                <a:ea typeface="Microsoft YaHei"/>
              </a:rPr>
              <a:t>¥330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010025" y="14001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467225" y="990600"/>
            <a:ext cx="3257550" cy="1152525"/>
          </a:xfrm>
          <a:prstGeom prst="roundRect">
            <a:avLst>
              <a:gd name="adj" fmla="val 11570"/>
            </a:avLst>
          </a:prstGeom>
          <a:solidFill>
            <a:srgbClr val="FFF6EC"/>
          </a:solidFill>
          <a:ln w="12700">
            <a:solidFill>
              <a:srgbClr val="B8551D"/>
            </a:solidFill>
            <a:prstDash val="dash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886325" y="118110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8551D"/>
                </a:solidFill>
                <a:latin typeface="Microsoft YaHei"/>
                <a:ea typeface="Microsoft YaHei"/>
              </a:rPr>
              <a:t>预约时担保冻结（这部分暂时不能用）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229225" y="1352550"/>
            <a:ext cx="17430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B8551D"/>
                </a:solidFill>
                <a:latin typeface="Microsoft YaHei"/>
                <a:ea typeface="Microsoft YaHei"/>
              </a:rPr>
              <a:t>冻</a:t>
            </a:r>
            <a:r>
              <a:rPr lang="en-US" sz="3900" b="1">
                <a:solidFill>
                  <a:srgbClr val="B8551D"/>
                </a:solidFill>
                <a:latin typeface="Microsoft YaHei"/>
                <a:ea typeface="Microsoft YaHei"/>
              </a:rPr>
              <a:t> ¥130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896225" y="14001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B8551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353425" y="990600"/>
            <a:ext cx="3267075" cy="1152525"/>
          </a:xfrm>
          <a:prstGeom prst="roundRect">
            <a:avLst>
              <a:gd name="adj" fmla="val 11570"/>
            </a:avLst>
          </a:prstGeom>
          <a:solidFill>
            <a:srgbClr val="4E7A62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058275" y="11811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到店结算后扣掉（冻结解除）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115425" y="1352550"/>
            <a:ext cx="17430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余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> ¥200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71500" y="2314575"/>
            <a:ext cx="3571875" cy="3971925"/>
          </a:xfrm>
          <a:prstGeom prst="roundRect">
            <a:avLst>
              <a:gd name="adj" fmla="val 320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42950" y="2486025"/>
            <a:ext cx="3228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充值与赠送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42950" y="2771775"/>
            <a:ext cx="32289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顾客选档位充值，赠送金随本金同时到账、当场可用；未消费的本金支持退款，赠送部分不退，规则透明。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314825" y="2314575"/>
            <a:ext cx="3562350" cy="3971925"/>
          </a:xfrm>
          <a:prstGeom prst="roundRect">
            <a:avLst>
              <a:gd name="adj" fmla="val 3209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86275" y="2486025"/>
            <a:ext cx="3219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次卡怎么扣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486275" y="2771775"/>
            <a:ext cx="32194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预约预扣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次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到店核销正式扣</a:t>
            </a:r>
            <a:r>
              <a:rPr lang="en-US" sz="1125">
                <a:solidFill>
                  <a:srgbClr val="2B241F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未到店自动回补。店长可人工加减次数，必须填写原因，顾客端同步可见。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048625" y="2314575"/>
            <a:ext cx="3571875" cy="3971925"/>
          </a:xfrm>
          <a:prstGeom prst="roundRect">
            <a:avLst>
              <a:gd name="adj" fmla="val 3200"/>
            </a:avLst>
          </a:prstGeom>
          <a:solidFill>
            <a:srgbClr val="F5EBDD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220075" y="2486025"/>
            <a:ext cx="3228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8551D"/>
                </a:solidFill>
                <a:latin typeface="Microsoft YaHei"/>
                <a:ea typeface="Microsoft YaHei"/>
              </a:rPr>
              <a:t>每一笔都能查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20075" y="2771775"/>
            <a:ext cx="32289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B241F"/>
                </a:solidFill>
                <a:latin typeface="Microsoft YaHei"/>
                <a:ea typeface="Microsoft YaHei"/>
              </a:rPr>
              <a:t>钱包流水记录每笔进出和变动后的余额，次卡流水记录每次扣补；顾客和门店看到的是同一本账。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爪爪星球</a:t>
            </a: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A7A6D"/>
                </a:solidFill>
                <a:latin typeface="Microsoft YaHei"/>
                <a:ea typeface="Microsoft YaHei"/>
              </a:rPr>
              <a:t>使用说明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2109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7A6D"/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2026-09-16T11:05:04Z</dcterms:created>
  <dcterms:modified xsi:type="dcterms:W3CDTF">2026-09-16T11:05:04Z</dcterms:modified>
</cp:coreProperties>
</file>